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3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02"/>
      </p:cViewPr>
      <p:guideLst>
        <p:guide orient="horz" pos="21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latin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latin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 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lang="en-US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/>
                <a:cs typeface="Calibri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615609"/>
            <a:ext cx="5157787" cy="357405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/>
                <a:cs typeface="Calibri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615609"/>
            <a:ext cx="5183188" cy="357405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latin typeface="Calibri Light"/>
                <a:cs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latin typeface="Calibri Light"/>
                <a:cs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FD9D74-47D9-4702-A33C-335B63B48DBF}" type="datetimeFigureOut">
              <a:rPr lang="en-US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8879958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 bwMode="auto">
          <a:xfrm>
            <a:off x="838200" y="551543"/>
            <a:ext cx="10515600" cy="55589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60FBDFE-C587-4B4C-A407-44438C67B59E}" type="datetimeFigureOut">
              <a:rPr lang="en-US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/>
                <a:cs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/>
                <a:cs typeface="Calibri Light"/>
              </a:defRPr>
            </a:lvl1pPr>
          </a:lstStyle>
          <a:p>
            <a:pPr>
              <a:defRPr/>
            </a:pPr>
            <a:fld id="{49AE70B2-8BF9-45C0-BB95-33D1B9D3A85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Calibri Light"/>
          <a:ea typeface="+mj-ea"/>
          <a:cs typeface="+mj-cs"/>
        </a:defRPr>
      </a:lvl1pPr>
    </p:titleStyle>
    <p:bodyStyle>
      <a:lvl1pPr marL="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defRPr sz="2800" b="0">
          <a:solidFill>
            <a:schemeClr val="tx1"/>
          </a:solidFill>
          <a:latin typeface="Calibri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Calibri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14.jpeg"/><Relationship Id="rId5" Type="http://schemas.openxmlformats.org/officeDocument/2006/relationships/image" Target="../media/image9.jpg"/><Relationship Id="rId10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8.jp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365250" y="4824730"/>
            <a:ext cx="9462135" cy="736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i="1"/>
              <a:t>Cubing Robot</a:t>
            </a:r>
            <a:br>
              <a:rPr lang="en-US" b="1" i="1"/>
            </a:br>
            <a:br>
              <a:rPr lang="en-US" b="1" i="1"/>
            </a:br>
            <a:br>
              <a:rPr lang="en-US" b="1" i="1"/>
            </a:br>
            <a:br>
              <a:rPr lang="en-US"/>
            </a:br>
            <a:r>
              <a:rPr lang="ru-RU" sz="4450"/>
              <a:t>Робот-методист для сборки кубика Рубика</a:t>
            </a:r>
          </a:p>
        </p:txBody>
      </p:sp>
      <p:sp>
        <p:nvSpPr>
          <p:cNvPr id="3" name="Текстовое поле 2"/>
          <p:cNvSpPr txBox="1"/>
          <p:nvPr/>
        </p:nvSpPr>
        <p:spPr bwMode="auto">
          <a:xfrm>
            <a:off x="6743700" y="5848350"/>
            <a:ext cx="5407660" cy="934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ru-RU" sz="2000" i="1" dirty="0">
                <a:latin typeface="+mj-lt"/>
                <a:cs typeface="+mj-lt"/>
              </a:rPr>
              <a:t>Ученик 10-го класса ГБОУ Школы №1329</a:t>
            </a:r>
          </a:p>
          <a:p>
            <a:pPr algn="r">
              <a:defRPr/>
            </a:pPr>
            <a:r>
              <a:rPr lang="ru-RU" sz="2400" i="1" dirty="0">
                <a:latin typeface="+mj-lt"/>
                <a:cs typeface="+mj-lt"/>
              </a:rPr>
              <a:t>Котов Иван</a:t>
            </a:r>
          </a:p>
        </p:txBody>
      </p:sp>
      <p:pic>
        <p:nvPicPr>
          <p:cNvPr id="4" name="Изображение 3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676140" y="1595120"/>
            <a:ext cx="2839720" cy="326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Терминология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1369060" y="1411605"/>
            <a:ext cx="10027920" cy="1423035"/>
          </a:xfrm>
        </p:spPr>
        <p:txBody>
          <a:bodyPr/>
          <a:lstStyle/>
          <a:p>
            <a:pPr>
              <a:buFont typeface="Arial"/>
              <a:defRPr/>
            </a:pPr>
            <a:r>
              <a:rPr lang="en-US" b="1" i="1"/>
              <a:t>Спидкубинг (от англ. speedcubing)</a:t>
            </a:r>
            <a:r>
              <a:rPr lang="en-US"/>
              <a:t> — это интеллектуальный вид спорта, заключающийся в сборке кубика Рубика и других головоломок на скорость.</a:t>
            </a:r>
          </a:p>
          <a:p>
            <a:pPr marL="457200" indent="-457200">
              <a:buFont typeface="Arial"/>
              <a:buChar char="•"/>
              <a:defRPr/>
            </a:pPr>
            <a:endParaRPr lang="en-US"/>
          </a:p>
        </p:txBody>
      </p:sp>
      <p:pic>
        <p:nvPicPr>
          <p:cNvPr id="4" name="Изображение 3"/>
          <p:cNvPicPr/>
          <p:nvPr/>
        </p:nvPicPr>
        <p:blipFill>
          <a:blip r:embed="rId2"/>
          <a:stretch/>
        </p:blipFill>
        <p:spPr bwMode="auto">
          <a:xfrm>
            <a:off x="372745" y="3056255"/>
            <a:ext cx="739140" cy="739140"/>
          </a:xfrm>
          <a:prstGeom prst="rect">
            <a:avLst/>
          </a:prstGeom>
        </p:spPr>
      </p:pic>
      <p:sp>
        <p:nvSpPr>
          <p:cNvPr id="5" name="Замещающее содержимое 2"/>
          <p:cNvSpPr>
            <a:spLocks noGrp="1"/>
          </p:cNvSpPr>
          <p:nvPr/>
        </p:nvSpPr>
        <p:spPr bwMode="auto">
          <a:xfrm>
            <a:off x="1369060" y="2961005"/>
            <a:ext cx="10027920" cy="1423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defRPr/>
            </a:pPr>
            <a:r>
              <a:rPr lang="en-US" b="1" i="1"/>
              <a:t>WCA (World Cube Association)</a:t>
            </a:r>
            <a:r>
              <a:rPr lang="en-US"/>
              <a:t> - </a:t>
            </a:r>
            <a:r>
              <a:rPr lang="ru-RU"/>
              <a:t>Всемирная Ассоциация Спидкубинга. Организатор всех официальных соревнований по спидкубингу.</a:t>
            </a:r>
          </a:p>
        </p:txBody>
      </p:sp>
      <p:pic>
        <p:nvPicPr>
          <p:cNvPr id="6" name="Изображение 5"/>
          <p:cNvPicPr/>
          <p:nvPr/>
        </p:nvPicPr>
        <p:blipFill>
          <a:blip r:embed="rId3"/>
          <a:stretch/>
        </p:blipFill>
        <p:spPr bwMode="auto">
          <a:xfrm>
            <a:off x="215899" y="1571625"/>
            <a:ext cx="895985" cy="895985"/>
          </a:xfrm>
          <a:prstGeom prst="rect">
            <a:avLst/>
          </a:prstGeom>
        </p:spPr>
      </p:pic>
      <p:sp>
        <p:nvSpPr>
          <p:cNvPr id="7" name="Замещающее содержимое 2"/>
          <p:cNvSpPr>
            <a:spLocks noGrp="1"/>
          </p:cNvSpPr>
          <p:nvPr/>
        </p:nvSpPr>
        <p:spPr bwMode="auto">
          <a:xfrm>
            <a:off x="1369060" y="4510405"/>
            <a:ext cx="10027920" cy="1423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Calibri Ligh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defRPr/>
            </a:pPr>
            <a:r>
              <a:rPr lang="en-US" b="1" i="1"/>
              <a:t>Скрамбл кубика Рубика</a:t>
            </a:r>
            <a:r>
              <a:rPr lang="en-US"/>
              <a:t> — это последовательность ходов, записанная на языке вращения головоломки, по которой она запутывается</a:t>
            </a:r>
            <a:r>
              <a:rPr lang="ru-RU"/>
              <a:t> (перемешивается)</a:t>
            </a:r>
            <a:r>
              <a:rPr lang="en-US"/>
              <a:t>.</a:t>
            </a:r>
          </a:p>
        </p:txBody>
      </p:sp>
      <p:pic>
        <p:nvPicPr>
          <p:cNvPr id="9" name="Изображение 8"/>
          <p:cNvPicPr/>
          <p:nvPr/>
        </p:nvPicPr>
        <p:blipFill>
          <a:blip r:embed="rId4"/>
          <a:stretch/>
        </p:blipFill>
        <p:spPr bwMode="auto">
          <a:xfrm>
            <a:off x="95884" y="4384040"/>
            <a:ext cx="1273175" cy="1273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404494" y="1479550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3200"/>
              <a:t>Кубик Рубика — это классическая головоломка, популярная среди широкого круга людей всех возрастов. В наши дни кубик вновь набирает популярность, все больше развивается такое направление, как Speedcubing - вид спорта по сборке на время кубика Рубика и некоторых других шарнирных головоломок. </a:t>
            </a:r>
          </a:p>
          <a:p>
            <a:pPr>
              <a:defRPr/>
            </a:pPr>
            <a:endParaRPr lang="en-US" sz="3200"/>
          </a:p>
          <a:p>
            <a:pPr>
              <a:defRPr/>
            </a:pPr>
            <a:r>
              <a:rPr lang="en-US" sz="3200"/>
              <a:t>Хотя многие знают о кубике, собрать головоломку без предварительной подготовки практически невозможно, и для этого </a:t>
            </a:r>
            <a:r>
              <a:rPr lang="ru-RU" sz="3200"/>
              <a:t>новичкам </a:t>
            </a:r>
            <a:r>
              <a:rPr lang="en-US" sz="3200"/>
              <a:t>требуется помощь</a:t>
            </a:r>
            <a:r>
              <a:rPr lang="ru-RU" sz="3200"/>
              <a:t>.</a:t>
            </a:r>
          </a:p>
        </p:txBody>
      </p:sp>
      <p:pic>
        <p:nvPicPr>
          <p:cNvPr id="5" name="Изображение 4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Введение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647700" y="1505585"/>
            <a:ext cx="10515600" cy="4414520"/>
          </a:xfrm>
        </p:spPr>
        <p:txBody>
          <a:bodyPr/>
          <a:lstStyle/>
          <a:p>
            <a:pPr>
              <a:defRPr/>
            </a:pPr>
            <a:r>
              <a:rPr lang="ru-RU" dirty="0"/>
              <a:t>Существующие курсы по сборке кубика не всегда могут обеспечить достаточный уровень усвоения знаний. В результате чего возникают трудности в отработке теории во время личных тренировок, что впоследствии нередко приводит к разочарованию в себе и в сфере </a:t>
            </a:r>
            <a:r>
              <a:rPr lang="ru-RU" dirty="0" err="1"/>
              <a:t>спидкубинга</a:t>
            </a:r>
            <a:r>
              <a:rPr lang="ru-RU" dirty="0"/>
              <a:t>. 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dirty="0">
                <a:effectLst/>
                <a:latin typeface="+mj-lt"/>
                <a:ea typeface="SimSun" panose="02010600030101010101" pitchFamily="2" charset="-122"/>
              </a:rPr>
              <a:t>Это сказывается как на снижении интереса к последовательному решению сложных задач в обществе в целом, так и на снижении количества </a:t>
            </a:r>
            <a:r>
              <a:rPr lang="ru-RU" dirty="0" err="1">
                <a:effectLst/>
                <a:latin typeface="+mj-lt"/>
                <a:ea typeface="SimSun" panose="02010600030101010101" pitchFamily="2" charset="-122"/>
              </a:rPr>
              <a:t>спидкуберов</a:t>
            </a:r>
            <a:r>
              <a:rPr lang="ru-RU" dirty="0">
                <a:effectLst/>
                <a:latin typeface="+mj-lt"/>
                <a:ea typeface="SimSun" panose="02010600030101010101" pitchFamily="2" charset="-122"/>
              </a:rPr>
              <a:t> и снижению популяризации этой сферы. </a:t>
            </a:r>
            <a:endParaRPr lang="en-US" dirty="0">
              <a:latin typeface="+mj-lt"/>
            </a:endParaRPr>
          </a:p>
          <a:p>
            <a:pPr>
              <a:defRPr/>
            </a:pPr>
            <a:endParaRPr lang="ru-RU" dirty="0"/>
          </a:p>
        </p:txBody>
      </p:sp>
      <p:pic>
        <p:nvPicPr>
          <p:cNvPr id="5" name="Изображение 4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Постановка проблемы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647700" y="1252855"/>
            <a:ext cx="10515600" cy="5400675"/>
          </a:xfrm>
        </p:spPr>
        <p:txBody>
          <a:bodyPr/>
          <a:lstStyle/>
          <a:p>
            <a:pPr>
              <a:defRPr/>
            </a:pPr>
            <a:r>
              <a:rPr lang="ru-RU" dirty="0"/>
              <a:t>Цель проекта - создание робота-методиста, который поможет новичкам в усвоении новых знаний. </a:t>
            </a:r>
          </a:p>
          <a:p>
            <a:pPr>
              <a:defRPr/>
            </a:pPr>
            <a:r>
              <a:rPr lang="ru-RU" dirty="0"/>
              <a:t>У робота реализован следующий функционал: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ru-RU" dirty="0"/>
              <a:t>Сборка кубика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ru-RU" dirty="0"/>
              <a:t>Правильный </a:t>
            </a:r>
            <a:r>
              <a:rPr lang="ru-RU" dirty="0" err="1"/>
              <a:t>скрамбл</a:t>
            </a:r>
            <a:endParaRPr lang="en-US" dirty="0"/>
          </a:p>
          <a:p>
            <a:pPr marL="457200" indent="-457200">
              <a:buFont typeface="Arial"/>
              <a:buChar char="•"/>
              <a:defRPr/>
            </a:pPr>
            <a:r>
              <a:rPr lang="ru-RU" dirty="0"/>
              <a:t>Непосредственное вращение каждой стороны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ru-RU" dirty="0"/>
              <a:t>Обучение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ru-RU" dirty="0"/>
              <a:t>Учебно-развлекательные функции (создание узоров и др.)</a:t>
            </a:r>
          </a:p>
          <a:p>
            <a:pPr>
              <a:buFont typeface="Arial"/>
              <a:defRPr/>
            </a:pPr>
            <a:r>
              <a:rPr lang="ru-RU" dirty="0"/>
              <a:t>Взаимодействие пользователя с роботом будет осуществляться через специальное компьютерное приложение.</a:t>
            </a:r>
          </a:p>
        </p:txBody>
      </p:sp>
      <p:pic>
        <p:nvPicPr>
          <p:cNvPr id="5" name="Изображение 4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Цель проекта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/>
          <p:nvPr/>
        </p:nvPicPr>
        <p:blipFill>
          <a:blip r:embed="rId2"/>
          <a:stretch/>
        </p:blipFill>
        <p:spPr bwMode="auto">
          <a:xfrm>
            <a:off x="647700" y="1317361"/>
            <a:ext cx="1744980" cy="1377017"/>
          </a:xfrm>
          <a:prstGeom prst="rect">
            <a:avLst/>
          </a:prstGeom>
        </p:spPr>
      </p:pic>
      <p:pic>
        <p:nvPicPr>
          <p:cNvPr id="7" name="Изображение 6"/>
          <p:cNvPicPr/>
          <p:nvPr/>
        </p:nvPicPr>
        <p:blipFill>
          <a:blip r:embed="rId3"/>
          <a:stretch/>
        </p:blipFill>
        <p:spPr bwMode="auto">
          <a:xfrm>
            <a:off x="4912655" y="1029565"/>
            <a:ext cx="1985689" cy="1325563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4"/>
          <a:stretch/>
        </p:blipFill>
        <p:spPr bwMode="auto">
          <a:xfrm>
            <a:off x="4287735" y="2512449"/>
            <a:ext cx="3231355" cy="2434852"/>
          </a:xfrm>
          <a:prstGeom prst="rect">
            <a:avLst/>
          </a:prstGeom>
        </p:spPr>
      </p:pic>
      <p:pic>
        <p:nvPicPr>
          <p:cNvPr id="9" name="Изображение 8"/>
          <p:cNvPicPr/>
          <p:nvPr/>
        </p:nvPicPr>
        <p:blipFill>
          <a:blip r:embed="rId5"/>
          <a:stretch/>
        </p:blipFill>
        <p:spPr bwMode="auto">
          <a:xfrm>
            <a:off x="4908482" y="5104623"/>
            <a:ext cx="1989862" cy="1372551"/>
          </a:xfrm>
          <a:prstGeom prst="rect">
            <a:avLst/>
          </a:prstGeom>
          <a:effectLst>
            <a:reflection stA="20000" endPos="6000" dir="5400000" sy="-100000" algn="bl" rotWithShape="0"/>
          </a:effectLst>
        </p:spPr>
      </p:pic>
      <p:pic>
        <p:nvPicPr>
          <p:cNvPr id="10" name="Изображение 9"/>
          <p:cNvPicPr/>
          <p:nvPr/>
        </p:nvPicPr>
        <p:blipFill>
          <a:blip r:embed="rId6"/>
          <a:stretch/>
        </p:blipFill>
        <p:spPr bwMode="auto">
          <a:xfrm>
            <a:off x="9191876" y="1049599"/>
            <a:ext cx="2002945" cy="1667218"/>
          </a:xfrm>
          <a:prstGeom prst="rect">
            <a:avLst/>
          </a:prstGeom>
        </p:spPr>
      </p:pic>
      <p:pic>
        <p:nvPicPr>
          <p:cNvPr id="13" name="Изображение 12"/>
          <p:cNvPicPr/>
          <p:nvPr/>
        </p:nvPicPr>
        <p:blipFill>
          <a:blip r:embed="rId7"/>
          <a:stretch/>
        </p:blipFill>
        <p:spPr bwMode="auto">
          <a:xfrm>
            <a:off x="9191876" y="3078013"/>
            <a:ext cx="2061003" cy="1476473"/>
          </a:xfrm>
          <a:prstGeom prst="rect">
            <a:avLst/>
          </a:prstGeom>
          <a:effectLst>
            <a:reflection blurRad="152400" stA="23000" endPos="12000" dir="5400000" sy="-100000" algn="bl" rotWithShape="0"/>
          </a:effectLst>
        </p:spPr>
      </p:pic>
      <p:pic>
        <p:nvPicPr>
          <p:cNvPr id="4" name="Изображение 11" descr="6194135186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585470" y="3078013"/>
            <a:ext cx="1807210" cy="1807210"/>
          </a:xfrm>
          <a:prstGeom prst="rect">
            <a:avLst/>
          </a:prstGeom>
        </p:spPr>
      </p:pic>
      <p:pic>
        <p:nvPicPr>
          <p:cNvPr id="6" name="Изображение 12" descr="6874876220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585470" y="4947302"/>
            <a:ext cx="1687195" cy="1687195"/>
          </a:xfrm>
          <a:prstGeom prst="rect">
            <a:avLst/>
          </a:prstGeom>
        </p:spPr>
      </p:pic>
      <p:pic>
        <p:nvPicPr>
          <p:cNvPr id="14" name="Изображение 13" descr="cubing_robot_logo_ico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11" name="Заголовок 10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Аналоги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0C3E69-6220-4FCE-8874-29285236A53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876" y="5194270"/>
            <a:ext cx="2061004" cy="1351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Изображение 3" descr="photo_2_2025-02-05_19-44-29"/>
          <p:cNvPicPr>
            <a:picLocks noChangeAspect="1"/>
          </p:cNvPicPr>
          <p:nvPr/>
        </p:nvPicPr>
        <p:blipFill>
          <a:blip r:embed="rId2"/>
          <a:srcRect l="21306" t="6389" r="11028" b="9259"/>
          <a:stretch/>
        </p:blipFill>
        <p:spPr bwMode="auto">
          <a:xfrm>
            <a:off x="7154545" y="2977515"/>
            <a:ext cx="3867785" cy="3616960"/>
          </a:xfrm>
          <a:prstGeom prst="rect">
            <a:avLst/>
          </a:prstGeom>
        </p:spPr>
      </p:pic>
      <p:pic>
        <p:nvPicPr>
          <p:cNvPr id="6" name="Изображение 5" descr="photo_4_2025-02-05_19-44-2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5000" y="2977515"/>
            <a:ext cx="4711700" cy="3534410"/>
          </a:xfrm>
          <a:prstGeom prst="rect">
            <a:avLst/>
          </a:prstGeom>
        </p:spPr>
      </p:pic>
      <p:pic>
        <p:nvPicPr>
          <p:cNvPr id="7" name="Изображение 6" descr="cubing_robot_logo_ico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 bwMode="auto">
          <a:xfrm>
            <a:off x="218440" y="1229360"/>
            <a:ext cx="117214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>
                <a:latin typeface="+mj-lt"/>
                <a:cs typeface="+mj-lt"/>
              </a:rPr>
              <a:t>Корпус робота состоит из двух основных частей: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+mj-lt"/>
                <a:cs typeface="+mj-lt"/>
              </a:rPr>
              <a:t>Основание, представляющее собой короб из фанеры, в котором находится один из шести моторов и вся электроника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+mj-lt"/>
                <a:cs typeface="+mj-lt"/>
              </a:rPr>
              <a:t>Каркас, состоящий из пяти трубчатых крестовин, в центре которых находятся моторы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Конструкция робота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IMG_5370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/>
        </p:blipFill>
        <p:spPr bwMode="auto">
          <a:xfrm>
            <a:off x="7760970" y="3150235"/>
            <a:ext cx="2324735" cy="3475990"/>
          </a:xfrm>
          <a:prstGeom prst="rect">
            <a:avLst/>
          </a:prstGeom>
        </p:spPr>
      </p:pic>
      <p:pic>
        <p:nvPicPr>
          <p:cNvPr id="4" name="Изображение 3" descr="cubing_robot_logo_ico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pic>
        <p:nvPicPr>
          <p:cNvPr id="8" name="Изображение 7" descr="photo_5_2025-02-05_19-44-29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655445" y="3150235"/>
            <a:ext cx="2607310" cy="3476625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 bwMode="auto">
          <a:xfrm>
            <a:off x="482600" y="1183640"/>
            <a:ext cx="10277475" cy="1725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/>
            </a:pPr>
            <a:r>
              <a:rPr lang="ru-RU" sz="2400">
                <a:latin typeface="Calibri Light"/>
                <a:cs typeface="Calibri Light"/>
              </a:rPr>
              <a:t>Робот вращает кубик при помощи специальных </a:t>
            </a:r>
            <a:r>
              <a:rPr lang="en-US" sz="2400">
                <a:latin typeface="Calibri Light"/>
                <a:cs typeface="Calibri Light"/>
              </a:rPr>
              <a:t>“</a:t>
            </a:r>
            <a:r>
              <a:rPr lang="ru-RU" sz="2400">
                <a:latin typeface="Calibri Light"/>
                <a:cs typeface="Calibri Light"/>
              </a:rPr>
              <a:t>лапок</a:t>
            </a:r>
            <a:r>
              <a:rPr lang="en-US" sz="2400">
                <a:latin typeface="Calibri Light"/>
                <a:cs typeface="Calibri Light"/>
              </a:rPr>
              <a:t>”</a:t>
            </a:r>
            <a:r>
              <a:rPr lang="ru-RU" sz="2400">
                <a:latin typeface="Calibri Light"/>
                <a:cs typeface="Calibri Light"/>
              </a:rPr>
              <a:t>, которые обхватывают центры кубика Рубика с каждой из сторон и прикрепляются к моторам. При помощи них моторы могут поворачивать кубик, а длина этих </a:t>
            </a:r>
            <a:r>
              <a:rPr lang="en-US" sz="2400">
                <a:latin typeface="Calibri Light"/>
                <a:cs typeface="Calibri Light"/>
              </a:rPr>
              <a:t>“</a:t>
            </a:r>
            <a:r>
              <a:rPr lang="ru-RU" sz="2400">
                <a:latin typeface="Calibri Light"/>
                <a:cs typeface="Calibri Light"/>
              </a:rPr>
              <a:t>лапок</a:t>
            </a:r>
            <a:r>
              <a:rPr lang="en-US" sz="2400">
                <a:latin typeface="Calibri Light"/>
                <a:cs typeface="Calibri Light"/>
              </a:rPr>
              <a:t>”</a:t>
            </a:r>
            <a:r>
              <a:rPr lang="ru-RU" sz="2400">
                <a:latin typeface="Calibri Light"/>
                <a:cs typeface="Calibri Light"/>
              </a:rPr>
              <a:t> обеспечивает хороший обзор кубика, что важно для функции обучения.</a:t>
            </a: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Механизм вращения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16199998">
            <a:off x="1219200" y="3107055"/>
            <a:ext cx="3083560" cy="4111625"/>
          </a:xfrm>
          <a:prstGeom prst="rect">
            <a:avLst/>
          </a:prstGeom>
        </p:spPr>
      </p:pic>
      <p:pic>
        <p:nvPicPr>
          <p:cNvPr id="5" name="Изображение 4" descr="cubing_robot_logo_ico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 bwMode="auto">
          <a:xfrm>
            <a:off x="285750" y="1054100"/>
            <a:ext cx="1179576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600">
                <a:latin typeface="Calibri Light"/>
                <a:cs typeface="Calibri Light"/>
              </a:rPr>
              <a:t>Электронная часть робота состоит из следующих компонентов: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600">
                <a:latin typeface="Calibri Light"/>
                <a:cs typeface="Calibri Light"/>
              </a:rPr>
              <a:t>Arduino Mega 2560</a:t>
            </a:r>
            <a:endParaRPr lang="ru-RU" sz="2600">
              <a:latin typeface="Calibri Light"/>
              <a:cs typeface="Calibri Light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ru-RU" sz="2600">
                <a:latin typeface="Calibri Light"/>
                <a:cs typeface="Calibri Light"/>
              </a:rPr>
              <a:t>Драйверы моторов </a:t>
            </a:r>
            <a:r>
              <a:rPr lang="en-US" sz="2600">
                <a:latin typeface="Calibri Light"/>
                <a:cs typeface="Calibri Light"/>
              </a:rPr>
              <a:t>A4988 </a:t>
            </a:r>
            <a:r>
              <a:rPr lang="ru-RU" sz="2600">
                <a:latin typeface="Calibri Light"/>
                <a:cs typeface="Calibri Light"/>
              </a:rPr>
              <a:t>в специальных модулях для упрощённого управления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600">
                <a:latin typeface="Calibri Light"/>
                <a:cs typeface="Calibri Light"/>
              </a:rPr>
              <a:t>Шаговые биполярные моторы </a:t>
            </a:r>
            <a:r>
              <a:rPr lang="en-US" sz="2600">
                <a:latin typeface="Calibri Light"/>
                <a:cs typeface="Calibri Light"/>
              </a:rPr>
              <a:t>Nema 17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600">
                <a:latin typeface="Calibri Light"/>
                <a:cs typeface="Calibri Light"/>
              </a:rPr>
              <a:t>Тумблер для отключения питания</a:t>
            </a:r>
            <a:endParaRPr lang="en-US" sz="2600">
              <a:latin typeface="Calibri Light"/>
              <a:cs typeface="Calibri Light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ru-RU" sz="2600">
                <a:latin typeface="Calibri Light"/>
                <a:cs typeface="Calibri Light"/>
              </a:rPr>
              <a:t>Литий-ионные аккумуляторы </a:t>
            </a:r>
            <a:r>
              <a:rPr lang="en-US" sz="2600">
                <a:latin typeface="Calibri Light"/>
                <a:cs typeface="Calibri Light"/>
              </a:rPr>
              <a:t>18650 (3,7 В, 2000 мА·ч каждый)</a:t>
            </a: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Электроника</a:t>
            </a:r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4"/>
          <a:srcRect t="11210" b="12260"/>
          <a:stretch/>
        </p:blipFill>
        <p:spPr bwMode="auto">
          <a:xfrm>
            <a:off x="7168515" y="3560445"/>
            <a:ext cx="3082925" cy="3146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Изображение 7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 bwMode="auto">
          <a:xfrm>
            <a:off x="328295" y="1478280"/>
            <a:ext cx="69183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>
                <a:latin typeface="Calibri Light"/>
                <a:cs typeface="Calibri Light"/>
              </a:rPr>
              <a:t>Для управления роботом используется специальное приложение, написанное на языке </a:t>
            </a:r>
            <a:r>
              <a:rPr lang="en-US" sz="2400">
                <a:latin typeface="Calibri Light"/>
                <a:cs typeface="Calibri Light"/>
              </a:rPr>
              <a:t>Python </a:t>
            </a:r>
            <a:r>
              <a:rPr lang="ru-RU" sz="2400">
                <a:latin typeface="Calibri Light"/>
                <a:cs typeface="Calibri Light"/>
              </a:rPr>
              <a:t>с помощью фреймворка </a:t>
            </a:r>
            <a:r>
              <a:rPr lang="en-US" sz="2400">
                <a:latin typeface="Calibri Light"/>
                <a:cs typeface="Calibri Light"/>
              </a:rPr>
              <a:t>PySide6 (PyQt)</a:t>
            </a:r>
            <a:r>
              <a:rPr lang="ru-RU" sz="2400">
                <a:latin typeface="Calibri Light"/>
                <a:cs typeface="Calibri Light"/>
              </a:rPr>
              <a:t>. </a:t>
            </a:r>
          </a:p>
          <a:p>
            <a:pPr>
              <a:defRPr/>
            </a:pPr>
            <a:r>
              <a:rPr lang="ru-RU" sz="2400">
                <a:latin typeface="Calibri Light"/>
                <a:cs typeface="Calibri Light"/>
              </a:rPr>
              <a:t>В приложении реализованы следующие функции: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Calibri Light"/>
                <a:cs typeface="Calibri Light"/>
              </a:rPr>
              <a:t>Сборка кубика Рубика: функция принимает конфигурацию кубика, полученную посредством ручного ввода, и возвращает последовательность движений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Calibri Light"/>
                <a:cs typeface="Calibri Light"/>
              </a:rPr>
              <a:t>Правильный скрамбл кубика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Calibri Light"/>
                <a:cs typeface="Calibri Light"/>
              </a:rPr>
              <a:t>Непосредственное вращение граней кубика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Calibri Light"/>
                <a:cs typeface="Calibri Light"/>
              </a:rPr>
              <a:t>Составление узоров на кубике 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ru-RU" sz="2400">
                <a:latin typeface="Calibri Light"/>
                <a:cs typeface="Calibri Light"/>
              </a:rPr>
              <a:t>Обучение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Приложение</a:t>
            </a: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33310" y="1220470"/>
            <a:ext cx="4324985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414020" y="1263650"/>
            <a:ext cx="10515600" cy="143319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700"/>
              <a:t>Приложение общается с роботом через </a:t>
            </a:r>
            <a:r>
              <a:rPr lang="en-US" sz="2700"/>
              <a:t>Serial-</a:t>
            </a:r>
            <a:r>
              <a:rPr lang="ru-RU" sz="2700"/>
              <a:t>порт, передавая роботу закодированную последовательность движений. Робот в свою очередь поворачивает моторы в переданной последовательности</a:t>
            </a:r>
          </a:p>
        </p:txBody>
      </p:sp>
      <p:pic>
        <p:nvPicPr>
          <p:cNvPr id="8" name="Изображение 7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Приложение</a:t>
            </a: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13460" y="2604135"/>
            <a:ext cx="4583430" cy="3943350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605270" y="2604135"/>
            <a:ext cx="3905250" cy="3942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Изображение 4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Перспективы развития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2C5A5-7F64-482F-9582-86C24B1934F1}"/>
              </a:ext>
            </a:extLst>
          </p:cNvPr>
          <p:cNvSpPr txBox="1"/>
          <p:nvPr/>
        </p:nvSpPr>
        <p:spPr>
          <a:xfrm>
            <a:off x="647701" y="1532965"/>
            <a:ext cx="105155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  <a:t>Добавление в робота двух модулей камер для анализа состояния кубика, а также подсветки кубика для лучшей дифференциации цветов.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  <a:t>Переработка схемы устройства, разводка и трассировка специальной платы управления.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  <a:t>Добавление в схему одноплатного компьютера </a:t>
            </a:r>
            <a:r>
              <a:rPr lang="en-US" sz="2400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  <a:t>Orange Pi Zero</a:t>
            </a:r>
            <a:r>
              <a:rPr lang="ru-RU" sz="2400" dirty="0">
                <a:effectLst/>
                <a:latin typeface="+mj-lt"/>
                <a:ea typeface="SimSun" panose="02010600030101010101" pitchFamily="2" charset="-122"/>
                <a:cs typeface="Times New Roman" panose="02020603050405020304" pitchFamily="18" charset="0"/>
              </a:rPr>
              <a:t> 3 для обработки изображения с камер и реализации второй версии программного обеспечения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400" dirty="0">
                <a:effectLst/>
                <a:latin typeface="+mj-lt"/>
                <a:ea typeface="SimSun" panose="02010600030101010101" pitchFamily="2" charset="-122"/>
              </a:rPr>
              <a:t>Разработка второй версии программного обеспечения: приложение для управления роботом будет представлено </a:t>
            </a:r>
            <a:r>
              <a:rPr lang="en-US" sz="2400" dirty="0">
                <a:effectLst/>
                <a:latin typeface="+mj-lt"/>
                <a:ea typeface="SimSun" panose="02010600030101010101" pitchFamily="2" charset="-122"/>
              </a:rPr>
              <a:t>WEB</a:t>
            </a:r>
            <a:r>
              <a:rPr lang="ru-RU" sz="2400" dirty="0">
                <a:effectLst/>
                <a:latin typeface="+mj-lt"/>
                <a:ea typeface="SimSun" panose="02010600030101010101" pitchFamily="2" charset="-122"/>
              </a:rPr>
              <a:t>-сервером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ru-RU" sz="2400" dirty="0">
                <a:latin typeface="+mj-lt"/>
                <a:ea typeface="SimSun" panose="02010600030101010101" pitchFamily="2" charset="-122"/>
              </a:rPr>
              <a:t>Расширение программы обучения, добавление новых алгоритмов и  теории по новым методам</a:t>
            </a:r>
            <a:endParaRPr lang="ru-RU" sz="2400" dirty="0">
              <a:effectLst/>
              <a:latin typeface="+mj-lt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323850" y="1411605"/>
            <a:ext cx="6196965" cy="5146675"/>
          </a:xfrm>
        </p:spPr>
        <p:txBody>
          <a:bodyPr/>
          <a:lstStyle/>
          <a:p>
            <a:pPr>
              <a:defRPr/>
            </a:pPr>
            <a:r>
              <a:rPr lang="ru-RU"/>
              <a:t>В заключении хочется сказать, что проект получился успешным. В процессе разработки я увеличил свои знания в областях программирования, механики, математики и электроники. С учётом функционала робота и лаконичного дизайна проект действительно может составить конкуренцию аналогам и помочь новичкам спидкубинга достичь высоких результатов в этой сфере деятельности. </a:t>
            </a:r>
          </a:p>
        </p:txBody>
      </p:sp>
      <p:pic>
        <p:nvPicPr>
          <p:cNvPr id="5" name="Изображение 4" descr="cubing_robot_logo_ico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464925" y="91440"/>
            <a:ext cx="616585" cy="708660"/>
          </a:xfrm>
          <a:prstGeom prst="rect">
            <a:avLst/>
          </a:prstGeom>
        </p:spPr>
      </p:pic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 dirty="0"/>
              <a:t>Заключение</a:t>
            </a: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rcRect t="6846" b="6617"/>
          <a:stretch/>
        </p:blipFill>
        <p:spPr bwMode="auto">
          <a:xfrm>
            <a:off x="6810375" y="1071880"/>
            <a:ext cx="4739640" cy="5273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806824CB-9BF2-4F5A-9664-0E4E102FF72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 dirty="0"/>
              <a:t>Репозиторий проекта на </a:t>
            </a:r>
            <a:r>
              <a:rPr lang="en-US" dirty="0"/>
              <a:t>GitHub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8FAD10-219B-4C30-881D-FFA7364B5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456" y="1245727"/>
            <a:ext cx="4881087" cy="495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95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119755" y="4691380"/>
            <a:ext cx="5951855" cy="132588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800" b="0" i="1">
                <a:latin typeface="Calibri Light"/>
                <a:cs typeface="Calibri Light"/>
              </a:rPr>
              <a:t>Спасибо за внимание!</a:t>
            </a:r>
          </a:p>
        </p:txBody>
      </p:sp>
      <p:pic>
        <p:nvPicPr>
          <p:cNvPr id="3" name="Изображение 2" descr="cubing_robot_logo_black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764155" y="363855"/>
            <a:ext cx="6662420" cy="4384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321310" y="1158240"/>
            <a:ext cx="10515600" cy="4351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000" i="1" dirty="0" err="1"/>
              <a:t>Алгоритм</a:t>
            </a:r>
            <a:r>
              <a:rPr lang="en-US" sz="2000" i="1" dirty="0"/>
              <a:t> </a:t>
            </a:r>
            <a:r>
              <a:rPr lang="en-US" sz="2000" i="1" dirty="0" err="1"/>
              <a:t>Герберта</a:t>
            </a:r>
            <a:r>
              <a:rPr lang="en-US" sz="2000" i="1" dirty="0"/>
              <a:t> </a:t>
            </a:r>
            <a:r>
              <a:rPr lang="en-US" sz="2000" i="1" dirty="0" err="1"/>
              <a:t>Коцембы</a:t>
            </a:r>
            <a:r>
              <a:rPr lang="en-US" sz="2000" dirty="0"/>
              <a:t> — </a:t>
            </a:r>
            <a:r>
              <a:rPr lang="en-US" sz="2000" dirty="0" err="1"/>
              <a:t>это</a:t>
            </a:r>
            <a:r>
              <a:rPr lang="en-US" sz="2000" dirty="0"/>
              <a:t> </a:t>
            </a:r>
            <a:r>
              <a:rPr lang="en-US" sz="2000" dirty="0" err="1"/>
              <a:t>метод</a:t>
            </a:r>
            <a:r>
              <a:rPr lang="en-US" sz="2000" dirty="0"/>
              <a:t> </a:t>
            </a:r>
            <a:r>
              <a:rPr lang="en-US" sz="2000" dirty="0" err="1"/>
              <a:t>решения</a:t>
            </a:r>
            <a:r>
              <a:rPr lang="en-US" sz="2000" dirty="0"/>
              <a:t> </a:t>
            </a:r>
            <a:r>
              <a:rPr lang="en-US" sz="2000" dirty="0" err="1"/>
              <a:t>кубика</a:t>
            </a:r>
            <a:r>
              <a:rPr lang="en-US" sz="2000" dirty="0"/>
              <a:t> </a:t>
            </a:r>
            <a:r>
              <a:rPr lang="en-US" sz="2000" dirty="0" err="1"/>
              <a:t>Рубика</a:t>
            </a:r>
            <a:r>
              <a:rPr lang="en-US" sz="2000" dirty="0"/>
              <a:t>, </a:t>
            </a:r>
            <a:r>
              <a:rPr lang="en-US" sz="2000" dirty="0" err="1"/>
              <a:t>который</a:t>
            </a:r>
            <a:r>
              <a:rPr lang="en-US" sz="2000" dirty="0"/>
              <a:t> </a:t>
            </a:r>
            <a:r>
              <a:rPr lang="en-US" sz="2000" dirty="0" err="1"/>
              <a:t>позволяет</a:t>
            </a:r>
            <a:r>
              <a:rPr lang="en-US" sz="2000" dirty="0"/>
              <a:t> </a:t>
            </a:r>
            <a:r>
              <a:rPr lang="en-US" sz="2000" dirty="0" err="1"/>
              <a:t>быстро</a:t>
            </a:r>
            <a:r>
              <a:rPr lang="en-US" sz="2000" dirty="0"/>
              <a:t> </a:t>
            </a:r>
            <a:r>
              <a:rPr lang="en-US" sz="2000" dirty="0" err="1"/>
              <a:t>находить</a:t>
            </a:r>
            <a:r>
              <a:rPr lang="en-US" sz="2000" dirty="0"/>
              <a:t> </a:t>
            </a:r>
            <a:r>
              <a:rPr lang="en-US" sz="2000" dirty="0" err="1"/>
              <a:t>короткие</a:t>
            </a:r>
            <a:r>
              <a:rPr lang="en-US" sz="2000" dirty="0"/>
              <a:t>, </a:t>
            </a:r>
            <a:r>
              <a:rPr lang="en-US" sz="2000" dirty="0" err="1"/>
              <a:t>субоптимальные</a:t>
            </a:r>
            <a:r>
              <a:rPr lang="en-US" sz="2000" dirty="0"/>
              <a:t> </a:t>
            </a:r>
            <a:r>
              <a:rPr lang="en-US" sz="2000" dirty="0" err="1"/>
              <a:t>решения</a:t>
            </a:r>
            <a:r>
              <a:rPr lang="en-US" sz="2000" dirty="0"/>
              <a:t>. </a:t>
            </a:r>
          </a:p>
          <a:p>
            <a:pPr>
              <a:defRPr/>
            </a:pPr>
            <a:r>
              <a:rPr lang="en-US" sz="2000" dirty="0" err="1"/>
              <a:t>Работа</a:t>
            </a:r>
            <a:r>
              <a:rPr lang="en-US" sz="2000" dirty="0"/>
              <a:t> </a:t>
            </a:r>
            <a:r>
              <a:rPr lang="en-US" sz="2000" dirty="0" err="1"/>
              <a:t>алгоритма</a:t>
            </a:r>
            <a:r>
              <a:rPr lang="en-US" sz="2000" dirty="0"/>
              <a:t> </a:t>
            </a:r>
            <a:r>
              <a:rPr lang="en-US" sz="2000" dirty="0" err="1"/>
              <a:t>построена</a:t>
            </a:r>
            <a:r>
              <a:rPr lang="en-US" sz="2000" dirty="0"/>
              <a:t> </a:t>
            </a:r>
            <a:r>
              <a:rPr lang="en-US" sz="2000" dirty="0" err="1"/>
              <a:t>так</a:t>
            </a:r>
            <a:r>
              <a:rPr lang="en-US" sz="2000" dirty="0"/>
              <a:t>: в </a:t>
            </a:r>
            <a:r>
              <a:rPr lang="en-US" sz="2000" dirty="0" err="1"/>
              <a:t>компьютер</a:t>
            </a:r>
            <a:r>
              <a:rPr lang="en-US" sz="2000" dirty="0"/>
              <a:t> </a:t>
            </a:r>
            <a:r>
              <a:rPr lang="en-US" sz="2000" dirty="0" err="1"/>
              <a:t>вводят</a:t>
            </a:r>
            <a:r>
              <a:rPr lang="en-US" sz="2000" dirty="0"/>
              <a:t> </a:t>
            </a:r>
            <a:r>
              <a:rPr lang="en-US" sz="2000" dirty="0" err="1"/>
              <a:t>описание</a:t>
            </a:r>
            <a:r>
              <a:rPr lang="en-US" sz="2000" dirty="0"/>
              <a:t> </a:t>
            </a:r>
            <a:r>
              <a:rPr lang="en-US" sz="2000" dirty="0" err="1"/>
              <a:t>конкретного</a:t>
            </a:r>
            <a:r>
              <a:rPr lang="en-US" sz="2000" dirty="0"/>
              <a:t> </a:t>
            </a:r>
            <a:r>
              <a:rPr lang="en-US" sz="2000" dirty="0" err="1"/>
              <a:t>кубика</a:t>
            </a:r>
            <a:r>
              <a:rPr lang="en-US" sz="2000" dirty="0"/>
              <a:t> (</a:t>
            </a:r>
            <a:r>
              <a:rPr lang="en-US" sz="2000" dirty="0" err="1"/>
              <a:t>расположение</a:t>
            </a:r>
            <a:r>
              <a:rPr lang="en-US" sz="2000" dirty="0"/>
              <a:t> и </a:t>
            </a:r>
            <a:r>
              <a:rPr lang="en-US" sz="2000" dirty="0" err="1"/>
              <a:t>ориентацию</a:t>
            </a:r>
            <a:r>
              <a:rPr lang="en-US" sz="2000" dirty="0"/>
              <a:t> </a:t>
            </a:r>
            <a:r>
              <a:rPr lang="en-US" sz="2000" dirty="0" err="1"/>
              <a:t>всех</a:t>
            </a:r>
            <a:r>
              <a:rPr lang="en-US" sz="2000" dirty="0"/>
              <a:t> </a:t>
            </a:r>
            <a:r>
              <a:rPr lang="en-US" sz="2000" dirty="0" err="1"/>
              <a:t>кубичков</a:t>
            </a:r>
            <a:r>
              <a:rPr lang="en-US" sz="2000" dirty="0"/>
              <a:t>). </a:t>
            </a:r>
            <a:r>
              <a:rPr lang="en-US" sz="2000" dirty="0" err="1"/>
              <a:t>После</a:t>
            </a:r>
            <a:r>
              <a:rPr lang="en-US" sz="2000" dirty="0"/>
              <a:t> </a:t>
            </a:r>
            <a:r>
              <a:rPr lang="en-US" sz="2000" dirty="0" err="1"/>
              <a:t>этого</a:t>
            </a:r>
            <a:r>
              <a:rPr lang="en-US" sz="2000" dirty="0"/>
              <a:t> </a:t>
            </a:r>
            <a:r>
              <a:rPr lang="en-US" sz="2000" dirty="0" err="1"/>
              <a:t>машина</a:t>
            </a:r>
            <a:r>
              <a:rPr lang="en-US" sz="2000" dirty="0"/>
              <a:t> </a:t>
            </a:r>
            <a:r>
              <a:rPr lang="en-US" sz="2000" dirty="0" err="1"/>
              <a:t>ищет</a:t>
            </a:r>
            <a:r>
              <a:rPr lang="en-US" sz="2000" dirty="0"/>
              <a:t> и </a:t>
            </a:r>
            <a:r>
              <a:rPr lang="en-US" sz="2000" dirty="0" err="1"/>
              <a:t>запоминает</a:t>
            </a:r>
            <a:r>
              <a:rPr lang="en-US" sz="2000" dirty="0"/>
              <a:t> </a:t>
            </a:r>
            <a:r>
              <a:rPr lang="en-US" sz="2000" dirty="0" err="1"/>
              <a:t>лучшие</a:t>
            </a:r>
            <a:r>
              <a:rPr lang="en-US" sz="2000" dirty="0"/>
              <a:t> (</a:t>
            </a:r>
            <a:r>
              <a:rPr lang="en-US" sz="2000" dirty="0" err="1"/>
              <a:t>не</a:t>
            </a:r>
            <a:r>
              <a:rPr lang="en-US" sz="2000" dirty="0"/>
              <a:t> </a:t>
            </a:r>
            <a:r>
              <a:rPr lang="en-US" sz="2000" dirty="0" err="1"/>
              <a:t>более</a:t>
            </a:r>
            <a:r>
              <a:rPr lang="en-US" sz="2000" dirty="0"/>
              <a:t> 13 </a:t>
            </a:r>
            <a:r>
              <a:rPr lang="en-US" sz="2000" dirty="0" err="1"/>
              <a:t>ходов</a:t>
            </a:r>
            <a:r>
              <a:rPr lang="en-US" sz="2000" dirty="0"/>
              <a:t>) </a:t>
            </a:r>
            <a:r>
              <a:rPr lang="en-US" sz="2000" dirty="0" err="1"/>
              <a:t>пути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достижения</a:t>
            </a:r>
            <a:r>
              <a:rPr lang="en-US" sz="2000" dirty="0"/>
              <a:t> </a:t>
            </a:r>
            <a:r>
              <a:rPr lang="en-US" sz="2000" dirty="0" err="1"/>
              <a:t>промежуточного</a:t>
            </a:r>
            <a:r>
              <a:rPr lang="en-US" sz="2000" dirty="0"/>
              <a:t> </a:t>
            </a:r>
            <a:r>
              <a:rPr lang="en-US" sz="2000" dirty="0" err="1"/>
              <a:t>состояния</a:t>
            </a:r>
            <a:r>
              <a:rPr lang="en-US" sz="2000" dirty="0"/>
              <a:t>, а </a:t>
            </a:r>
            <a:r>
              <a:rPr lang="en-US" sz="2000" dirty="0" err="1"/>
              <a:t>затем</a:t>
            </a:r>
            <a:r>
              <a:rPr lang="en-US" sz="2000" dirty="0"/>
              <a:t> </a:t>
            </a:r>
            <a:r>
              <a:rPr lang="en-US" sz="2000" dirty="0" err="1"/>
              <a:t>для</a:t>
            </a:r>
            <a:r>
              <a:rPr lang="en-US" sz="2000" dirty="0"/>
              <a:t> </a:t>
            </a:r>
            <a:r>
              <a:rPr lang="en-US" sz="2000" dirty="0" err="1"/>
              <a:t>самого</a:t>
            </a:r>
            <a:r>
              <a:rPr lang="en-US" sz="2000" dirty="0"/>
              <a:t> </a:t>
            </a:r>
            <a:r>
              <a:rPr lang="en-US" sz="2000" dirty="0" err="1"/>
              <a:t>короткого</a:t>
            </a:r>
            <a:r>
              <a:rPr lang="en-US" sz="2000" dirty="0"/>
              <a:t> </a:t>
            </a:r>
            <a:r>
              <a:rPr lang="en-US" sz="2000" dirty="0" err="1"/>
              <a:t>из</a:t>
            </a:r>
            <a:r>
              <a:rPr lang="en-US" sz="2000" dirty="0"/>
              <a:t> </a:t>
            </a:r>
            <a:r>
              <a:rPr lang="en-US" sz="2000" dirty="0" err="1"/>
              <a:t>них</a:t>
            </a:r>
            <a:r>
              <a:rPr lang="en-US" sz="2000" dirty="0"/>
              <a:t> </a:t>
            </a:r>
            <a:r>
              <a:rPr lang="en-US" sz="2000" dirty="0" err="1"/>
              <a:t>включается</a:t>
            </a:r>
            <a:r>
              <a:rPr lang="en-US" sz="2000" dirty="0"/>
              <a:t> </a:t>
            </a:r>
            <a:r>
              <a:rPr lang="en-US" sz="2000" dirty="0" err="1"/>
              <a:t>второй</a:t>
            </a:r>
            <a:r>
              <a:rPr lang="en-US" sz="2000" dirty="0"/>
              <a:t> </a:t>
            </a:r>
            <a:r>
              <a:rPr lang="en-US" sz="2000" dirty="0" err="1"/>
              <a:t>этап</a:t>
            </a:r>
            <a:r>
              <a:rPr lang="en-US" sz="2000" dirty="0"/>
              <a:t>. </a:t>
            </a:r>
            <a:r>
              <a:rPr lang="en-US" sz="2000" dirty="0" err="1"/>
              <a:t>Если</a:t>
            </a:r>
            <a:r>
              <a:rPr lang="en-US" sz="2000" dirty="0"/>
              <a:t> </a:t>
            </a:r>
            <a:r>
              <a:rPr lang="en-US" sz="2000" dirty="0" err="1"/>
              <a:t>суммарная</a:t>
            </a:r>
            <a:r>
              <a:rPr lang="en-US" sz="2000" dirty="0"/>
              <a:t> </a:t>
            </a:r>
            <a:r>
              <a:rPr lang="en-US" sz="2000" dirty="0" err="1"/>
              <a:t>длина</a:t>
            </a:r>
            <a:r>
              <a:rPr lang="en-US" sz="2000" dirty="0"/>
              <a:t> </a:t>
            </a:r>
            <a:r>
              <a:rPr lang="en-US" sz="2000" dirty="0" err="1"/>
              <a:t>полученной</a:t>
            </a:r>
            <a:r>
              <a:rPr lang="en-US" sz="2000" dirty="0"/>
              <a:t> </a:t>
            </a:r>
            <a:r>
              <a:rPr lang="en-US" sz="2000" dirty="0" err="1"/>
              <a:t>после</a:t>
            </a:r>
            <a:r>
              <a:rPr lang="en-US" sz="2000" dirty="0"/>
              <a:t> </a:t>
            </a:r>
            <a:r>
              <a:rPr lang="en-US" sz="2000" dirty="0" err="1"/>
              <a:t>этого</a:t>
            </a:r>
            <a:r>
              <a:rPr lang="en-US" sz="2000" dirty="0"/>
              <a:t> </a:t>
            </a:r>
            <a:r>
              <a:rPr lang="en-US" sz="2000" dirty="0" err="1"/>
              <a:t>операции</a:t>
            </a:r>
            <a:r>
              <a:rPr lang="en-US" sz="2000" dirty="0"/>
              <a:t> </a:t>
            </a:r>
            <a:r>
              <a:rPr lang="en-US" sz="2000" dirty="0" err="1"/>
              <a:t>больше</a:t>
            </a:r>
            <a:r>
              <a:rPr lang="en-US" sz="2000" dirty="0"/>
              <a:t> 21 </a:t>
            </a:r>
            <a:r>
              <a:rPr lang="en-US" sz="2000" dirty="0" err="1"/>
              <a:t>хода</a:t>
            </a:r>
            <a:r>
              <a:rPr lang="en-US" sz="2000" dirty="0"/>
              <a:t>, </a:t>
            </a:r>
            <a:r>
              <a:rPr lang="en-US" sz="2000" dirty="0" err="1"/>
              <a:t>компьютер</a:t>
            </a:r>
            <a:r>
              <a:rPr lang="en-US" sz="2000" dirty="0"/>
              <a:t> </a:t>
            </a:r>
            <a:r>
              <a:rPr lang="en-US" sz="2000" dirty="0" err="1"/>
              <a:t>возвращается</a:t>
            </a:r>
            <a:r>
              <a:rPr lang="en-US" sz="2000" dirty="0"/>
              <a:t> к </a:t>
            </a:r>
            <a:r>
              <a:rPr lang="en-US" sz="2000" dirty="0" err="1"/>
              <a:t>первому</a:t>
            </a:r>
            <a:r>
              <a:rPr lang="en-US" sz="2000" dirty="0"/>
              <a:t> </a:t>
            </a:r>
            <a:r>
              <a:rPr lang="en-US" sz="2000" dirty="0" err="1"/>
              <a:t>этапу</a:t>
            </a:r>
            <a:r>
              <a:rPr lang="en-US" sz="2000" dirty="0"/>
              <a:t> и </a:t>
            </a:r>
            <a:r>
              <a:rPr lang="en-US" sz="2000" dirty="0" err="1"/>
              <a:t>пытается</a:t>
            </a:r>
            <a:r>
              <a:rPr lang="en-US" sz="2000" dirty="0"/>
              <a:t> </a:t>
            </a:r>
            <a:r>
              <a:rPr lang="en-US" sz="2000" dirty="0" err="1"/>
              <a:t>найти</a:t>
            </a:r>
            <a:r>
              <a:rPr lang="en-US" sz="2000" dirty="0"/>
              <a:t> </a:t>
            </a:r>
            <a:r>
              <a:rPr lang="en-US" sz="2000" dirty="0" err="1"/>
              <a:t>более</a:t>
            </a:r>
            <a:r>
              <a:rPr lang="en-US" sz="2000" dirty="0"/>
              <a:t> </a:t>
            </a:r>
            <a:r>
              <a:rPr lang="en-US" sz="2000" dirty="0" err="1"/>
              <a:t>короткое</a:t>
            </a:r>
            <a:r>
              <a:rPr lang="en-US" sz="2000" dirty="0"/>
              <a:t> </a:t>
            </a:r>
            <a:r>
              <a:rPr lang="en-US" sz="2000" dirty="0" err="1"/>
              <a:t>решение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базе</a:t>
            </a:r>
            <a:r>
              <a:rPr lang="en-US" sz="2000" dirty="0"/>
              <a:t> </a:t>
            </a:r>
            <a:r>
              <a:rPr lang="en-US" sz="2000" dirty="0" err="1"/>
              <a:t>другого</a:t>
            </a:r>
            <a:r>
              <a:rPr lang="en-US" sz="2000" dirty="0"/>
              <a:t> </a:t>
            </a:r>
            <a:r>
              <a:rPr lang="en-US" sz="2000" dirty="0" err="1"/>
              <a:t>промежуточного</a:t>
            </a:r>
            <a:r>
              <a:rPr lang="en-US" sz="2000" dirty="0"/>
              <a:t> </a:t>
            </a:r>
            <a:r>
              <a:rPr lang="en-US" sz="2000" dirty="0" err="1"/>
              <a:t>состояния</a:t>
            </a:r>
            <a:r>
              <a:rPr lang="en-US" sz="2000" dirty="0"/>
              <a:t>, </a:t>
            </a:r>
            <a:r>
              <a:rPr lang="en-US" sz="2000" dirty="0" err="1"/>
              <a:t>возможно</a:t>
            </a:r>
            <a:r>
              <a:rPr lang="en-US" sz="2000" dirty="0"/>
              <a:t>, </a:t>
            </a:r>
            <a:r>
              <a:rPr lang="en-US" sz="2000" dirty="0" err="1"/>
              <a:t>увеличив</a:t>
            </a:r>
            <a:r>
              <a:rPr lang="en-US" sz="2000" dirty="0"/>
              <a:t> </a:t>
            </a:r>
            <a:r>
              <a:rPr lang="en-US" sz="2000" dirty="0" err="1"/>
              <a:t>длину</a:t>
            </a:r>
            <a:r>
              <a:rPr lang="en-US" sz="2000" dirty="0"/>
              <a:t> </a:t>
            </a:r>
            <a:r>
              <a:rPr lang="en-US" sz="2000" dirty="0" err="1"/>
              <a:t>первого</a:t>
            </a:r>
            <a:r>
              <a:rPr lang="en-US" sz="2000" dirty="0"/>
              <a:t> </a:t>
            </a:r>
            <a:r>
              <a:rPr lang="en-US" sz="2000" dirty="0" err="1"/>
              <a:t>этапа</a:t>
            </a:r>
            <a:r>
              <a:rPr lang="en-US" sz="2000" dirty="0"/>
              <a:t>. </a:t>
            </a:r>
            <a:endParaRPr lang="ru-RU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В 2010 </a:t>
            </a:r>
            <a:r>
              <a:rPr lang="en-US" sz="2000" dirty="0" err="1"/>
              <a:t>году</a:t>
            </a:r>
            <a:r>
              <a:rPr lang="en-US" sz="2000" dirty="0"/>
              <a:t> </a:t>
            </a:r>
            <a:r>
              <a:rPr lang="en-US" sz="2000" dirty="0" err="1"/>
              <a:t>Томас</a:t>
            </a:r>
            <a:r>
              <a:rPr lang="en-US" sz="2000" dirty="0"/>
              <a:t> </a:t>
            </a:r>
            <a:r>
              <a:rPr lang="en-US" sz="2000" dirty="0" err="1"/>
              <a:t>Рокики</a:t>
            </a:r>
            <a:r>
              <a:rPr lang="en-US" sz="2000" dirty="0"/>
              <a:t>, </a:t>
            </a:r>
            <a:r>
              <a:rPr lang="en-US" sz="2000" dirty="0" err="1"/>
              <a:t>Герберт</a:t>
            </a:r>
            <a:r>
              <a:rPr lang="en-US" sz="2000" dirty="0"/>
              <a:t> </a:t>
            </a:r>
            <a:r>
              <a:rPr lang="en-US" sz="2000" dirty="0" err="1"/>
              <a:t>Коцемба</a:t>
            </a:r>
            <a:r>
              <a:rPr lang="en-US" sz="2000" dirty="0"/>
              <a:t>, </a:t>
            </a:r>
            <a:r>
              <a:rPr lang="en-US" sz="2000" dirty="0" err="1"/>
              <a:t>Морли</a:t>
            </a:r>
            <a:r>
              <a:rPr lang="en-US" sz="2000" dirty="0"/>
              <a:t> </a:t>
            </a:r>
            <a:r>
              <a:rPr lang="en-US" sz="2000" dirty="0" err="1"/>
              <a:t>Дэвидсон</a:t>
            </a:r>
            <a:r>
              <a:rPr lang="en-US" sz="2000" dirty="0"/>
              <a:t> и </a:t>
            </a:r>
            <a:r>
              <a:rPr lang="en-US" sz="2000" dirty="0" err="1"/>
              <a:t>Джон</a:t>
            </a:r>
            <a:r>
              <a:rPr lang="en-US" sz="2000" dirty="0"/>
              <a:t> </a:t>
            </a:r>
            <a:r>
              <a:rPr lang="en-US" sz="2000" dirty="0" err="1"/>
              <a:t>Детридж</a:t>
            </a:r>
            <a:r>
              <a:rPr lang="en-US" sz="2000" dirty="0"/>
              <a:t> </a:t>
            </a:r>
            <a:r>
              <a:rPr lang="en-US" sz="2000" dirty="0" err="1"/>
              <a:t>объявили</a:t>
            </a:r>
            <a:r>
              <a:rPr lang="en-US" sz="2000" dirty="0"/>
              <a:t> о </a:t>
            </a:r>
            <a:r>
              <a:rPr lang="en-US" sz="2000" dirty="0" err="1"/>
              <a:t>доказательстве</a:t>
            </a:r>
            <a:r>
              <a:rPr lang="en-US" sz="2000" dirty="0"/>
              <a:t> </a:t>
            </a:r>
            <a:r>
              <a:rPr lang="en-US" sz="2000" dirty="0" err="1"/>
              <a:t>того</a:t>
            </a:r>
            <a:r>
              <a:rPr lang="en-US" sz="2000" dirty="0"/>
              <a:t>, </a:t>
            </a:r>
            <a:r>
              <a:rPr lang="en-US" sz="2000" dirty="0" err="1"/>
              <a:t>что</a:t>
            </a:r>
            <a:r>
              <a:rPr lang="en-US" sz="2000" dirty="0"/>
              <a:t> </a:t>
            </a:r>
            <a:r>
              <a:rPr lang="en-US" sz="2000" dirty="0" err="1"/>
              <a:t>любая</a:t>
            </a:r>
            <a:r>
              <a:rPr lang="en-US" sz="2000" dirty="0"/>
              <a:t> </a:t>
            </a:r>
            <a:r>
              <a:rPr lang="en-US" sz="2000" dirty="0" err="1"/>
              <a:t>конфигурация</a:t>
            </a:r>
            <a:r>
              <a:rPr lang="en-US" sz="2000" dirty="0"/>
              <a:t> </a:t>
            </a:r>
            <a:r>
              <a:rPr lang="en-US" sz="2000" dirty="0" err="1"/>
              <a:t>кубика</a:t>
            </a:r>
            <a:r>
              <a:rPr lang="en-US" sz="2000" dirty="0"/>
              <a:t> </a:t>
            </a:r>
            <a:r>
              <a:rPr lang="en-US" sz="2000" dirty="0" err="1"/>
              <a:t>Рубика</a:t>
            </a:r>
            <a:r>
              <a:rPr lang="en-US" sz="2000" dirty="0"/>
              <a:t> </a:t>
            </a:r>
            <a:r>
              <a:rPr lang="en-US" sz="2000" dirty="0" err="1"/>
              <a:t>может</a:t>
            </a:r>
            <a:r>
              <a:rPr lang="en-US" sz="2000" dirty="0"/>
              <a:t> </a:t>
            </a:r>
            <a:r>
              <a:rPr lang="en-US" sz="2000" dirty="0" err="1"/>
              <a:t>быть</a:t>
            </a:r>
            <a:r>
              <a:rPr lang="en-US" sz="2000" dirty="0"/>
              <a:t> </a:t>
            </a:r>
            <a:r>
              <a:rPr lang="en-US" sz="2000" dirty="0" err="1"/>
              <a:t>решена</a:t>
            </a:r>
            <a:r>
              <a:rPr lang="en-US" sz="2000" dirty="0"/>
              <a:t> </a:t>
            </a:r>
            <a:r>
              <a:rPr lang="en-US" sz="2000" dirty="0" err="1"/>
              <a:t>не</a:t>
            </a:r>
            <a:r>
              <a:rPr lang="en-US" sz="2000" dirty="0"/>
              <a:t> </a:t>
            </a:r>
            <a:r>
              <a:rPr lang="en-US" sz="2000" dirty="0" err="1"/>
              <a:t>более</a:t>
            </a:r>
            <a:r>
              <a:rPr lang="en-US" sz="2000" dirty="0"/>
              <a:t> </a:t>
            </a:r>
            <a:r>
              <a:rPr lang="en-US" sz="2000" dirty="0" err="1"/>
              <a:t>чем</a:t>
            </a:r>
            <a:r>
              <a:rPr lang="en-US" sz="2000" dirty="0"/>
              <a:t> в 20 </a:t>
            </a:r>
            <a:r>
              <a:rPr lang="en-US" sz="2000" dirty="0" err="1"/>
              <a:t>ходов</a:t>
            </a:r>
            <a:r>
              <a:rPr lang="en-US" sz="2000" dirty="0"/>
              <a:t>.</a:t>
            </a:r>
            <a:endParaRPr lang="ru-RU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ru-RU" sz="2000" dirty="0"/>
              <a:t>Именно этот </a:t>
            </a:r>
            <a:r>
              <a:rPr lang="ru-RU" sz="2000" dirty="0" err="1"/>
              <a:t>комьютерный</a:t>
            </a:r>
            <a:r>
              <a:rPr lang="ru-RU" sz="2000" dirty="0"/>
              <a:t> алгоритм использует моё приложение для составления алгоритма сборки кубика Рубика по его состояния.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Алгоритм Герберта Коцембы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Изображение 5"/>
          <p:cNvPicPr/>
          <p:nvPr/>
        </p:nvPicPr>
        <p:blipFill>
          <a:blip r:embed="rId2"/>
          <a:stretch/>
        </p:blipFill>
        <p:spPr bwMode="auto">
          <a:xfrm>
            <a:off x="571500" y="1479550"/>
            <a:ext cx="4458970" cy="4458970"/>
          </a:xfrm>
          <a:prstGeom prst="rect">
            <a:avLst/>
          </a:prstGeom>
        </p:spPr>
      </p:pic>
      <p:pic>
        <p:nvPicPr>
          <p:cNvPr id="7" name="Изображение 6"/>
          <p:cNvPicPr/>
          <p:nvPr/>
        </p:nvPicPr>
        <p:blipFill>
          <a:blip r:embed="rId3"/>
          <a:stretch/>
        </p:blipFill>
        <p:spPr bwMode="auto">
          <a:xfrm>
            <a:off x="6830697" y="1424464"/>
            <a:ext cx="4523422" cy="4523422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 bwMode="auto">
          <a:xfrm>
            <a:off x="150495" y="5730240"/>
            <a:ext cx="5210809" cy="1166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defRPr/>
            </a:pPr>
            <a:r>
              <a:rPr lang="ru-RU" sz="2800">
                <a:latin typeface="Calibri Light"/>
                <a:cs typeface="Calibri Light"/>
              </a:rPr>
              <a:t>Статья в Википедии</a:t>
            </a:r>
            <a:endParaRPr lang="en-US" sz="2800">
              <a:latin typeface="Calibri Light"/>
              <a:cs typeface="Calibri Light"/>
            </a:endParaRPr>
          </a:p>
          <a:p>
            <a:pPr algn="ctr">
              <a:defRPr/>
            </a:pPr>
            <a:r>
              <a:rPr lang="en-US" sz="2800">
                <a:latin typeface="Calibri Light"/>
                <a:cs typeface="Calibri Light"/>
              </a:rPr>
              <a:t>“</a:t>
            </a:r>
            <a:r>
              <a:rPr lang="ru-RU" sz="2800">
                <a:latin typeface="Calibri Light"/>
                <a:cs typeface="Calibri Light"/>
              </a:rPr>
              <a:t>Математика кубика Рубика</a:t>
            </a:r>
            <a:r>
              <a:rPr lang="en-US" sz="2800">
                <a:latin typeface="Calibri Light"/>
                <a:cs typeface="Calibri Light"/>
              </a:rPr>
              <a:t>”</a:t>
            </a:r>
            <a:endParaRPr lang="en-US" sz="2000">
              <a:latin typeface="Calibri Light"/>
              <a:cs typeface="Calibri Light"/>
            </a:endParaRPr>
          </a:p>
          <a:p>
            <a:pPr algn="ctr">
              <a:defRPr/>
            </a:pPr>
            <a:endParaRPr lang="en-US" sz="2000">
              <a:latin typeface="Calibri Light"/>
              <a:cs typeface="Calibri Light"/>
            </a:endParaRPr>
          </a:p>
        </p:txBody>
      </p:sp>
      <p:sp>
        <p:nvSpPr>
          <p:cNvPr id="10" name="Текстовое поле 9"/>
          <p:cNvSpPr txBox="1"/>
          <p:nvPr/>
        </p:nvSpPr>
        <p:spPr bwMode="auto">
          <a:xfrm>
            <a:off x="7008498" y="5730240"/>
            <a:ext cx="42049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800">
                <a:latin typeface="Calibri Light"/>
                <a:cs typeface="Calibri Light"/>
              </a:rPr>
              <a:t>Вырезка из газеты</a:t>
            </a:r>
            <a:endParaRPr lang="en-US" sz="2800">
              <a:latin typeface="Calibri Light"/>
              <a:cs typeface="Calibri Light"/>
            </a:endParaRPr>
          </a:p>
          <a:p>
            <a:pPr algn="ctr">
              <a:defRPr/>
            </a:pPr>
            <a:endParaRPr lang="en-US" sz="2800">
              <a:latin typeface="Calibri Light"/>
              <a:cs typeface="Calibri Ligh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 bwMode="auto">
          <a:xfrm>
            <a:off x="647700" y="857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Алгоритм Герберта Коцембы</a:t>
            </a:r>
          </a:p>
        </p:txBody>
      </p:sp>
      <p:sp>
        <p:nvSpPr>
          <p:cNvPr id="2" name="Текстовое поле 1"/>
          <p:cNvSpPr txBox="1"/>
          <p:nvPr/>
        </p:nvSpPr>
        <p:spPr bwMode="auto">
          <a:xfrm>
            <a:off x="408940" y="1081405"/>
            <a:ext cx="8524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>
                <a:latin typeface="Calibri Light"/>
                <a:cs typeface="Calibri Light"/>
              </a:rPr>
              <a:t>Сканируйте </a:t>
            </a:r>
            <a:r>
              <a:rPr lang="en-US" sz="2400">
                <a:latin typeface="Calibri Light"/>
                <a:cs typeface="Calibri Light"/>
              </a:rPr>
              <a:t>QR-</a:t>
            </a:r>
            <a:r>
              <a:rPr lang="ru-RU" sz="2400">
                <a:latin typeface="Calibri Light"/>
                <a:cs typeface="Calibri Light"/>
              </a:rPr>
              <a:t>код, чтобы узнать больше о данном алгоритме: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810</Words>
  <Application>Microsoft Office PowerPoint</Application>
  <DocSecurity>0</DocSecurity>
  <PresentationFormat>Широкоэкранный</PresentationFormat>
  <Paragraphs>71</Paragraphs>
  <Slides>17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Office Theme</vt:lpstr>
      <vt:lpstr>Cubing Robot    Робот-методист для сборки кубика Рубика</vt:lpstr>
      <vt:lpstr>Терминология</vt:lpstr>
      <vt:lpstr>Введение</vt:lpstr>
      <vt:lpstr>Постановка проблемы</vt:lpstr>
      <vt:lpstr>Цель проекта</vt:lpstr>
      <vt:lpstr>Аналоги</vt:lpstr>
      <vt:lpstr>Конструкция робота</vt:lpstr>
      <vt:lpstr>Механизм вращения</vt:lpstr>
      <vt:lpstr>Электроника</vt:lpstr>
      <vt:lpstr>Приложение</vt:lpstr>
      <vt:lpstr>Приложение</vt:lpstr>
      <vt:lpstr>Перспективы развития</vt:lpstr>
      <vt:lpstr>Заключение</vt:lpstr>
      <vt:lpstr>Репозиторий проекта на GitHub</vt:lpstr>
      <vt:lpstr>Спасибо за внимание!</vt:lpstr>
      <vt:lpstr>Алгоритм Герберта Коцембы</vt:lpstr>
      <vt:lpstr>Алгоритм Герберта Коцембы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Asus</dc:creator>
  <cp:keywords/>
  <dc:description/>
  <cp:lastModifiedBy>Ваня</cp:lastModifiedBy>
  <cp:revision>30</cp:revision>
  <dcterms:created xsi:type="dcterms:W3CDTF">2025-01-24T13:30:00Z</dcterms:created>
  <dcterms:modified xsi:type="dcterms:W3CDTF">2025-09-09T21:56:50Z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1049-12.2.0.20795</vt:lpwstr>
  </property>
  <property fmtid="{D5CDD505-2E9C-101B-9397-08002B2CF9AE}" pid="3" name="ICV">
    <vt:lpwstr>99F6E56486184EF2A4A7D5F5445BED89_13</vt:lpwstr>
  </property>
</Properties>
</file>